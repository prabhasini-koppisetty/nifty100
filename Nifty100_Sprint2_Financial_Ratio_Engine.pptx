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9997135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NIFTY 100 FINANCIAL INTELLIGENCE PLATFORM</a:t>
            </a:r>
          </a:p>
          <a:p>
            <a:pPr algn="l">
              <a:defRPr sz="1800">
                <a:solidFill>
                  <a:srgbClr val="93C5FD"/>
                </a:solidFill>
              </a:defRPr>
            </a:pPr>
            <a:r>
              <a:t>Sprint 2 — Financial Ratio Engine &amp; Automated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383280"/>
            <a:ext cx="48463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520440"/>
            <a:ext cx="448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STUDENT &amp; PROJECT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Student Name:        </a:t>
            </a:r>
            <a:r>
              <a:rPr sz="1200">
                <a:solidFill>
                  <a:srgbClr val="2563EB"/>
                </a:solidFill>
              </a:rPr>
              <a:t>K. Prabhasini</a:t>
            </a:r>
          </a:p>
          <a:p>
            <a:r>
              <a:rPr b="1" sz="1200">
                <a:solidFill>
                  <a:srgbClr val="0F172A"/>
                </a:solidFill>
              </a:rPr>
              <a:t>Roll / ID Number:    </a:t>
            </a:r>
            <a:r>
              <a:rPr sz="1200">
                <a:solidFill>
                  <a:srgbClr val="2563EB"/>
                </a:solidFill>
              </a:rPr>
              <a:t>2024-BS-NFT-092</a:t>
            </a:r>
          </a:p>
          <a:p>
            <a:r>
              <a:rPr b="1" sz="1200">
                <a:solidFill>
                  <a:srgbClr val="0F172A"/>
                </a:solidFill>
              </a:rPr>
              <a:t>Department:          </a:t>
            </a:r>
            <a:r>
              <a:rPr sz="1200">
                <a:solidFill>
                  <a:srgbClr val="2563EB"/>
                </a:solidFill>
              </a:rPr>
              <a:t>Computer Science &amp; Engineering</a:t>
            </a:r>
          </a:p>
          <a:p>
            <a:r>
              <a:rPr b="1" sz="1200">
                <a:solidFill>
                  <a:srgbClr val="0F172A"/>
                </a:solidFill>
              </a:rPr>
              <a:t>College Name:        </a:t>
            </a:r>
            <a:r>
              <a:rPr sz="1200">
                <a:solidFill>
                  <a:srgbClr val="2563EB"/>
                </a:solidFill>
              </a:rPr>
              <a:t>Engineering College &amp;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48463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448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ORGANIZATION &amp;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Organization:      </a:t>
            </a:r>
            <a:r>
              <a:rPr sz="1200">
                <a:solidFill>
                  <a:srgbClr val="1E3A8A"/>
                </a:solidFill>
              </a:rPr>
              <a:t>Bluestock Fintech</a:t>
            </a:r>
          </a:p>
          <a:p>
            <a:r>
              <a:rPr b="1" sz="1200">
                <a:solidFill>
                  <a:srgbClr val="0F172A"/>
                </a:solidFill>
              </a:rPr>
              <a:t>Project Track:     </a:t>
            </a:r>
            <a:r>
              <a:rPr sz="1200">
                <a:solidFill>
                  <a:srgbClr val="1E3A8A"/>
                </a:solidFill>
              </a:rPr>
              <a:t>Financial Data Engineering</a:t>
            </a:r>
          </a:p>
          <a:p>
            <a:r>
              <a:rPr b="1" sz="1200">
                <a:solidFill>
                  <a:srgbClr val="0F172A"/>
                </a:solidFill>
              </a:rPr>
              <a:t>Sprint Scope:      </a:t>
            </a:r>
            <a:r>
              <a:rPr sz="1200">
                <a:solidFill>
                  <a:srgbClr val="1E3A8A"/>
                </a:solidFill>
              </a:rPr>
              <a:t>Sprint 2 (Day 08 – Day 14)</a:t>
            </a:r>
          </a:p>
          <a:p>
            <a:r>
              <a:rPr b="1" sz="1200">
                <a:solidFill>
                  <a:srgbClr val="0F172A"/>
                </a:solidFill>
              </a:rPr>
              <a:t>Academic Year:     </a:t>
            </a:r>
            <a:r>
              <a:rPr sz="1200">
                <a:solidFill>
                  <a:srgbClr val="1E3A8A"/>
                </a:solidFill>
              </a:rPr>
              <a:t>2025 –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Project Overview &amp; 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Processes financial data for all 92 Nifty 100 constituent companies.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Sprint 1 built the core Data Foundation &amp; ETL Pipeline (SQLite database).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Sprint 2 builds the Financial Ratio Engine to convert raw statements into 50+ actionable financial KPIs.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Computes profitability, leverage, efficiency, multi-year CAGR, cash flow quality, and capital allocation patterns.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Centralized SQLite analytical store (db/nifty100.db) enables automated equity screening and quantitative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End-to-End Processing Pipeline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65960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79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1. Raw Financial Data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Excel files in data/raw/ (P&amp;L, Balance Sheet, Cash Flow)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24328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70048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2. ETL &amp; Validation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Sprint 1 Normalizer &amp; DQ Validator (16 quality rules)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82696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328415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3. SQLite Database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db/nifty100.db storing normalized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41064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86784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4. Financial Ratio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Sprint 2 src/analytics/ modules processing 92 companies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599431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645151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5. KPIs &amp; CAGR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50+ metrics computed across 1,155 company-years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257800"/>
            <a:ext cx="4693615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303520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6. Screening &amp; Output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financial_ratios table &amp; output/ CSV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Sprint 2 Objectives &amp; Key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50+ Financial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Compute comprehensive profitability, leverage, efficiency, and cash-flow KPIs for all companies.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Complete Company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2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Process all 92 companies across all available financial years supported by raw data (1,155 years).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Multi-Period CAGR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Calculate 3-yr, 5-yr, and 10-yr CAGR for Revenue, PAT, and EPS with 6 rigorous edge-case flags.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65176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Capital Allocation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Classify annual capital deployment into 8 distinct patterns based on CFO, CFI, and CFF sign 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Financials Sector Carve-Out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Handle high structural leverage gracefully for 23 Financials sector companies without false alarms.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4048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4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Automated Edge Case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Cross-check ratios against source benchmarks and export anomalies to ratio_edge_cases.log.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Database Population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Populate SQLite financial_ratios table maintaining foreign key integrity and zero duplicate pairs.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29200"/>
            <a:ext cx="5285232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16636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Rigorous Test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440680"/>
            <a:ext cx="49194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Develop 20+ deterministic unit tests ensuring 100% pass rate across all ratio &amp; CAGR modules.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System Architecture &amp; Analytics Submodules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Analytics Architecture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65960"/>
            <a:ext cx="4572000" cy="4572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3911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SQLite Database (db/nifty100.db)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32888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Pipeline Orchestrator (src/analytics/engine.py)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99815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7296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Profitability &amp; Leverage (ratios.py)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66744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3989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CAGR Engine (cagr.py)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33672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068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Cash Flow &amp; Capital Alloc (cashflow_kpis.py)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800600"/>
            <a:ext cx="4572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737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Composite Quality Model (quality_score.py)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367527"/>
            <a:ext cx="4572000" cy="4572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79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Outputs: financial_ratios DB &amp; CSV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Analytics Directory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4876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src/analytics/ratios.py
  </a:t>
            </a:r>
            <a:r>
              <a:rPr sz="1000">
                <a:solidFill>
                  <a:srgbClr val="0F172A"/>
                </a:solidFill>
              </a:rPr>
              <a:t>Pure functions for NPM, OPM, ROE, ROCE, ROA, D/E, ICR, Net Debt, Asset Turnover, &amp; sector flags.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src/analytics/cagr.py
  </a:t>
            </a:r>
            <a:r>
              <a:rPr sz="1000">
                <a:solidFill>
                  <a:srgbClr val="0F172A"/>
                </a:solidFill>
              </a:rPr>
              <a:t>Multi-year CAGR calculator handling 6 edge cases: Decline-to-Loss, Turnaround, Both Negative, Zero Base, Insufficient.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src/analytics/cashflow_kpis.py
  </a:t>
            </a:r>
            <a:r>
              <a:rPr sz="1000">
                <a:solidFill>
                  <a:srgbClr val="0F172A"/>
                </a:solidFill>
              </a:rPr>
              <a:t>FCF, 5-yr rolling CFO Quality Score, CapEx Intensity, FCF Conversion, &amp; 8-pattern Capital Allocation classifier.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src/analytics/quality_score.py
  </a:t>
            </a:r>
            <a:r>
              <a:rPr sz="1000">
                <a:solidFill>
                  <a:srgbClr val="0F172A"/>
                </a:solidFill>
              </a:rPr>
              <a:t>Transparent 0–100 score model weighting profitability, solvency, cash flow quality, and growth.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src/analytics/engine.py
  </a:t>
            </a:r>
            <a:r>
              <a:rPr sz="1000">
                <a:solidFill>
                  <a:srgbClr val="0F172A"/>
                </a:solidFill>
              </a:rPr>
              <a:t>Orchestrates database reads, executes ratio functions across 1,155 company-years, and writes SQLite &amp; CSV outputs.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Profitability Ratios &amp; Formula Edge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62095"/>
                <a:gridCol w="420624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Profitability Ratio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Formula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Edge-Case Handling &amp; Rules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Net Profit Margin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(Net Profit / Sales) ×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Sales == 0, negative, or missing.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Operating Profit Margin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(Operating Profit / Sales) ×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Sales == 0. Cross-checked with source OPM; logs mismatch if diff &gt; 1%.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Return on Equity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[Net Profit / (Equity Capital + Reserves)] ×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Equity + Reserves ≤ 0 (negative net worth).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Return on Capital Employed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(EBIT / Capital Employed) × 100</a:t>
                      </a:r>
                    </a:p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EBIT = PBT + 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Capital Employed = Equity + Reserves + Borrowings. Returns None if CE ≤ 0. Financials carve-out applied.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Return on Assets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(Net Profit / Total Assets) ×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Total Assets ≤ 0 or missing.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Leverage &amp; Efficiency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962095"/>
                <a:gridCol w="4206240"/>
              </a:tblGrid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 / Ratio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Formula / Logic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Edge Case &amp; Special Rules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Debt-to-Equity Ratio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Borrowings / (Equity + Reserves)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0.0 (NOT None) if Borrowings == 0. Returns None if Equity ≤ 0.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Interest Coverage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(Operating Profit + Other Income) / 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Interest == 0. If ICR &lt; 1.5, triggers icr_warning_flag = True.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Net Debt (Cr)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Borrowings − Investments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Uses Investments as proxy for liquid cash assets.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A8A"/>
                          </a:solidFill>
                        </a:defRPr>
                      </a:pPr>
                      <a:r>
                        <a:t>Asset Turnover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Sales / 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Returns None if Total Assets ≤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Key Rules &amp; Flags: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• Debt Free Label: Assigned 'Debt Free' if ICR is None due to zero interest/borrowings.  |  • High Leverage Flag: Triggered if D/E &gt; 5 AND company is NOT in Financials sector.  |  • Financials Carve-Out: High D/E warning is suppressed for banks/NBFCs.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Growth Analysis using CAGR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Mathematical Compound Annual Growth Rate (CAGR)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CAGR = [ ( End Value / Start Value ) ^ ( 1 / n ) − 1 ] ×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447288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Revenue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0815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Evaluates top-line business expansion across historical periods.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3-Year Revenue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5-Year Revenue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10-Year Revenue CAGR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743200"/>
            <a:ext cx="3447288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880360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PAT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200400"/>
            <a:ext cx="30815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Evaluates net profit growth performance across historical periods.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3-Year PAT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5-Year PAT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10-Year PAT CAGR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743200"/>
            <a:ext cx="3447288" cy="3383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2880360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EPS 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3200400"/>
            <a:ext cx="308152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Evaluates earnings per share expansion for shareholder value creation.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3-Year EPS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5-Year EPS CAGR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</a:defRPr>
            </a:pPr>
            <a:r>
              <a:t>• 10-Year EPS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CAGR Edge-Case Classification &amp; Flagging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377440"/>
                <a:gridCol w="4053535"/>
              </a:tblGrid>
              <a:tr h="56170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Case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CAGR Value Output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Output Flag Stored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Financial Rationale &amp; Context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Positive →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Computed CAGR (%)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Standard annual growth rate calculation.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Positive →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DECLINE_TO_LOSS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Company transitioned from profitable to net loss; fractional exponent invalid.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Negative →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(NULL)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TURNAROUND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Company turned around from loss to profit; standard CAGR formula mathematically deceptive.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Negative →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BOTH_NEGATIVE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Company experienced losses in both base and ending years.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Zero Base Value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(NULL)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ZERO_BASE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Base year value is zero; division by zero prevented.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Insufficient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None (NULL)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 available for fewer than required n historical years.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Engineering Design Choice: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532120"/>
            <a:ext cx="8351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Flags are stored in separate columns (e.g. revenue_cagr_5yr_flag) to ensure numerical CAGR columns remain clean for SQL aggregation while preserving financial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Cash Flow KPIs &amp; Quality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852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Free Cash Flow (FCF 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Formula: Operating Activity + Investing Activity</a:t>
            </a:r>
            <a:br/>
            <a:br/>
            <a:r>
              <a:t>• Measures net cash generated after operational investments.</a:t>
            </a:r>
            <a:br/>
            <a:r>
              <a:t>• Negative FCF is permitted and accurately captured.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852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CFO Quality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Formula: CFO / PAT (5-Year Rolling Average)</a:t>
            </a:r>
            <a:br/>
            <a:br/>
            <a:r>
              <a:t>• &gt; 1.0  → High Quality (Strong cash conversion)</a:t>
            </a:r>
            <a:br/>
            <a:r>
              <a:t>• 0.5–1.0 → Moderate Quality</a:t>
            </a:r>
            <a:br/>
            <a:r>
              <a:t>• &lt; 0.5  → Accrual Risk (Low cash conversion)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852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CapEx Intensity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Formula: |Investing Activity| / Sales × 100</a:t>
            </a:r>
            <a:br/>
            <a:br/>
            <a:r>
              <a:t>• &lt; 3%   → Asset Light</a:t>
            </a:r>
            <a:br/>
            <a:r>
              <a:t>• 3%–8% → Moderate CapEx</a:t>
            </a:r>
            <a:br/>
            <a:r>
              <a:t>• &gt; 8%   → Capital Intensive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85232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FCF Conversion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9194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Formula: ( FCF / Operating Profit ) × 100</a:t>
            </a:r>
            <a:br/>
            <a:br/>
            <a:r>
              <a:t>• Evaluates efficiency of converting operating profit into free cash flow.</a:t>
            </a:r>
            <a:br/>
            <a:r>
              <a:t>• Returns None if Operating Profit == 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Capital Allocation Pattern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2560320"/>
                <a:gridCol w="3962095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CFO Sign Flow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CFI Sign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CFF Sign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Capital Allocation Label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Financial Behavior Summary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Shareholder Returns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(+,-,-) with high CFO/PAT (&gt; 1.0); returning excess cash to shareholders.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Reinvestor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(+,-,-) standard pattern; reinvesting operating cash into business expansion.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Liquidating Assets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Generating cash by selling investments/assets while paying debt.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Distress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Negative operational cash; selling assets and taking debt to survive.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Growth Funded by Debt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Operational cash negative; funding CapEx and operations via external debt.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Cash Accumulator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Positive cash flow across operational, investment, and financing activities.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Pre-Revenue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Negative cash flow across all activities; early stage or pre-revenue phase.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Positive operational cash with investment CapEx and net debt addition.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42432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Output Artifact Generated: output/capital_allocation.csv  |  Total Processed Rows: 1,056 company-year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Financials Sector Carve-Out &amp; Edge Case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Financial Sector Special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23 companies belong to Financials broad sector (Banks, NBFCs, Housing Finance).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Financial companies operate natively with high debt/deposits as their core operating business model.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High Leverage Warning Suppressed: Standard high D/E (&gt; 5) warning flag is suppressed for Financials.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ROCE &amp; ROE Cross-Check: Computed ratios are compared against companies.xlsx source benchmarks.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Ratio-engine computed value remains authoritative for downstream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Edge-Case Anomaly Categories (ratio_edge_cases.log)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76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DATA_SOURCE_ISSUE
  </a:t>
            </a:r>
            <a:r>
              <a:rPr sz="1000">
                <a:solidFill>
                  <a:srgbClr val="0F172A"/>
                </a:solidFill>
              </a:rPr>
              <a:t>Discrepancy caused by missing or inconsistent raw source numbers.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VERSION_DIFFERENCE
  </a:t>
            </a:r>
            <a:r>
              <a:rPr sz="1000">
                <a:solidFill>
                  <a:srgbClr val="0F172A"/>
                </a:solidFill>
              </a:rPr>
              <a:t>Discrepancy due to TTM / latest benchmark vs full annual financial statement calculation.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FORMULA_DISCREPANCY
  </a:t>
            </a:r>
            <a:r>
              <a:rPr sz="1000">
                <a:solidFill>
                  <a:srgbClr val="0F172A"/>
                </a:solidFill>
              </a:rPr>
              <a:t>Difference in EBIT / capital employed definition between source and ratio engine.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UNDETERMINED
  </a:t>
            </a:r>
            <a:r>
              <a:rPr sz="1000">
                <a:solidFill>
                  <a:srgbClr val="0F172A"/>
                </a:solidFill>
              </a:rPr>
              <a:t>Used where exact underlying discrepancy cause cannot be established empirically.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Transparent Composite Quality Score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Conceptual Scoring 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Profitability (30%)   +   Cash Flow Quality (30%)   +   Solvency (20%)   +   Growth Signals (20%)   ➔   Composite Score (0 – 100)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2852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Profitability Signals (Max 30 pts)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NPM &gt; 15%: 10 pts, 5-15%: 5 pts</a:t>
            </a:r>
            <a:br/>
            <a:r>
              <a:t>• ROE &gt; 15%: 10 pts, 5-15%: 5 pts</a:t>
            </a:r>
            <a:br/>
            <a:r>
              <a:t>• ROCE &gt; 15%: 10 pts, 5-15%: 5 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2852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Cash Flow Quality (Max 30 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63240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CFO Quality Score &gt; 1.0: 15 pts, 0.5-1.0: 8 pts</a:t>
            </a:r>
            <a:br/>
            <a:r>
              <a:t>• FCF Conversion &gt; 80%: 15 pts, 40-80%: 8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52852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Solvency &amp; Balance Sheet (Max 20 pts)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D/E &lt; 0.5 or Debt Free: 10 pts, 0.5-1.5: 5 pts</a:t>
            </a:r>
            <a:br/>
            <a:r>
              <a:t>• ICR &gt; 3.0 or Debt Free: 10 pts, 1.5-3.0: 5 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52852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4919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Growth Signals (Max 20 pts)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46320"/>
            <a:ext cx="49194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• 5-Yr Revenue CAGR &gt; 10%: 10 pts, 0-10%: 5 pts</a:t>
            </a:r>
            <a:br/>
            <a:r>
              <a:t>• 5-Yr PAT CAGR &gt; 10%: 10 pts, 0-10%: 5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Database Population &amp; Output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SQLite Database (db/nifty100.db)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Table financial_ratios fully populated with 1,155 rows.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Total 44 KPI columns created, covering profitability, leverage, CAGR, cash flow, &amp; quality scores.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Zero NULL-only KPI columns.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Zero duplicate company/year pairs.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Foreign key integrity preserved (PRAGMA foreign_keys = 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Generated Output Reports (output/)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76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capital_allocation.csv
  </a:t>
            </a:r>
            <a:r>
              <a:rPr sz="1000">
                <a:solidFill>
                  <a:srgbClr val="0F172A"/>
                </a:solidFill>
              </a:rPr>
              <a:t>1,056 company-year pattern rows classifying cash flow reinvestment &amp; capital allocation behavior.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ratio_edge_cases.log
  </a:t>
            </a:r>
            <a:r>
              <a:rPr sz="1000">
                <a:solidFill>
                  <a:srgbClr val="0F172A"/>
                </a:solidFill>
              </a:rPr>
              <a:t>Audit log containing detailed discrepancy category, computed vs source values, and sector notes.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dq_report.csv
  </a:t>
            </a:r>
            <a:r>
              <a:rPr sz="1000">
                <a:solidFill>
                  <a:srgbClr val="0F172A"/>
                </a:solidFill>
              </a:rPr>
              <a:t>Sprint 1 Data Quality audit report covering dataset table checks and validation metrics.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2563EB"/>
                </a:solidFill>
              </a:rPr>
              <a:t>• load_audit.csv
  </a:t>
            </a:r>
            <a:r>
              <a:rPr sz="1000">
                <a:solidFill>
                  <a:srgbClr val="0F172A"/>
                </a:solidFill>
              </a:rPr>
              <a:t>Sprint 1 ETL load audit report tracking raw row counts vs loaded database row counts.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Testing, Validation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</a:defRPr>
            </a:pPr>
            <a:r>
              <a:t>67 PASSING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Total Pytest Unit Tests</a:t>
            </a:r>
            <a:br/>
            <a:r>
              <a:t>(0 Failures)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463040"/>
            <a:ext cx="338328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6630" y="1645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26 KPI TESTS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Sprint 2 Ratio Engine Tests</a:t>
            </a:r>
            <a:br/>
            <a:r>
              <a:t>(ratios, cagr, cashflow)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6895" y="1463040"/>
            <a:ext cx="338328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9775" y="16459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0.000000%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Spot Check Difference</a:t>
            </a:r>
            <a:br/>
            <a:r>
              <a:t>(ABB, TCS, RELIANCE &lt; 0.1%)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728655" cy="2834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Test Coverage Categories &amp; Empirical Database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Sprint 2 Ratio Formula Tests: 26 unit tests covering normal calculations, zero denominator handling, negative equity, interest coverage, Debt-Free label, &amp; Financials sector carve-outs.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Sprint 1 ETL Tests: 41 unit tests covering table creation, company counts, &amp; normalizer routines.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Database Integrity Verification: PRAGMA foreign_key_check = 0 violations, duplicate company/year pairs = 0.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• 3-Company Manual Spot Check: Recomputed ROE &amp; 5-year Revenue CAGR manually for ABB, TCS, and RELIANCE. Differences were exactly 0.000000% (passing &lt; 0.1% target requirement).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NIFTY 100 FINANCIAL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Sprint 2 successfully builds a high-performance Financial Ratio Engine on top of Sprint 1 data.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Populates 1,155 company-year records across 44 KPI columns into SQLite.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Handles edge cases robustly (zero denominators, negative equity, 6 CAGR flags, Financials carve-out).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Generates capital allocation pattern classifications and transparent quality scoring.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Backed by 67 passing unit tests and zero database foreign key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764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Interactive Financial Screening Dashboard (Streamlit / React web interface).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Peer Group Benchmarking &amp; Sub-sector relative valuation metrics.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Automated Investment Insights &amp; anomaly flag reporting.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Historical KPI Trend Visualization and time-series charts.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REST API Integration for downstream stock screening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6400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Thank You! — 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 2 Review — Financial Ratio Engine | Bluestock Internship Project |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